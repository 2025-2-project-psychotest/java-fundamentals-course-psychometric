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580BA-FDB4-ACCF-61DE-B73C6E7AC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C87FFE-A14C-FDC9-68B6-1FEE7FE8D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3B2440-CAE7-AE99-8540-5C99892D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C3D54C-D5B9-C0ED-2B8D-C2875277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C3182C-CFC7-C039-2C27-E863CFAE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70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CC502-9142-DC1F-28B6-E1F01482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09EBBA-FE2E-9656-CE54-74A1055CC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F235EA-DFB3-5553-4CD2-6D6AEDC96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9E11E-EC20-DA69-37BE-FCC99C2B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C6AB65-3BD0-879E-2893-5928AD7F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35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B774F-45A6-C92A-9BF6-7EEACC8F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24D543-027F-49BF-6C4D-DDEFFB5BF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315931-F192-FF86-3366-3B536C21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581243-2ADC-9C39-1DA8-061E37DB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F185F6-A16B-DAF7-FF34-260477B5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5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74944-9727-6422-482B-7D3FDE08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5640C5-B0FB-30CE-ED01-64609861A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F5570C-C8F5-648F-FBFA-64102D87B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C7ADB8-0EF0-E70C-4C06-C336008B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CF0123-B1B7-41DE-E57C-44DFB132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3C20D-1FC7-1B05-F5A9-0A0DE07E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03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4F0D5-11EA-2893-9DA4-FB41FB39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9D2771-19A6-9004-9562-1CFA64921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4E586-6DD3-0714-C9A3-4C2B0FA4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CC85776-0216-782F-5CA8-F55036D37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1F770D-FAFF-B7CF-3C18-F745E6C87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6E2FB0-57F2-EEE5-E7CD-AFE5DBFE2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563DA5-6BE9-CBCA-3BF7-80BF92F6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B27988-F20C-00D7-BD02-00F67AD5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59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66E71-5544-AE37-0D58-BC9E47DE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A22638B-7A98-7ADA-37DF-214F0128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73F84B-58CA-64DA-0406-5CF5F88E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ED8977-CCAF-021C-4116-FA3E2D58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50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3C16D0-943E-B34A-2A76-D8A8D28A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646885-633B-A85E-C0E6-C502C134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29CCF2-D8F2-3CE7-F311-BE3D5E27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53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B6A6D-139E-A1CC-7A85-F6926572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8CA63B-69C8-120C-D4B5-7DB6C8EE8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772396-C67D-9035-465E-E70194BCC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8D20B6-DEEE-0ACA-FFF3-F6BB15A6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C95C17-7ACF-9968-20A1-E6A2C28BA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2D423A-5712-2C51-6930-8C6EC906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99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7866C-B740-06A3-FEB3-B7217353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DF718E-4BB7-AD9D-066A-27CEB02D7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D24BA5-2FAE-5C07-7C0E-BA6D0DAD8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33832E-7611-ABF2-E1CF-51ED8C52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2CF476-3E56-A86B-6E8C-422C85D7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ABB57B-1553-E692-3EAF-79A1E47B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53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9442E-6C43-528A-198D-04B5EC44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F0BE62-1A0F-CFF3-CC5B-3EF828849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BA3A22-5AD2-A80B-6A12-E79C2804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86FECC-4883-C1DC-1FAF-AC01A576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029CB8-E22C-9AF7-645D-B8D473DF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8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1C0E07-9C3D-E249-CA13-14C169B5D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09DBC0-9377-2078-E2A3-04652AA42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0DB8B9-E319-9432-1E0C-C6C8B95C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DFD9B3-ECB0-449A-F271-00B67A9F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8C76F0-68FD-C109-3DFA-EDC0DA24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39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75BBDB-0B50-D673-C85A-B1E77FB1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AA0D8A-7B65-9FF1-82CE-8128E3192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379148-DECD-FD5A-E4D0-0081F9241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EA913-BD91-4EEA-867B-3197521CFD95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B0B8E9-F4C0-7715-94F3-D31CEB013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68E68B-B379-E7C3-661C-2C2E2455A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4EEEF-92D8-4223-8348-BF9D4EA7D8D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95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183C0-7BC1-5711-0478-EC66ECDED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s-PE" dirty="0"/>
              <a:t>Fundamentos de la programación con Java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682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520A4-4326-A5F3-CAD5-DCA9EFAE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¿Qué es la programación?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0D0007-7303-103A-3121-7F508125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Imagina que quieres enseñarle a tu mejor amigo a preparar tu receta favorita. Tienes que darle instrucciones muy claras: primero esto, después aquello, si pasa esto entonces haz esto otro. ¡Eso es programación! Es el arte de dar instrucciones precisas a una computadora para que haga lo que queremos.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207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BFF88F-2809-6C5B-80A7-DBB71CB0C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computadoras son muy poderosas, pero también muy literales. No pueden adivinar lo que queremos; debemos decirles exactamente qué hacer, paso a paso. Y para comunicarnos con ellas, usamos lenguajes de programación.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2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9ABAA-EF6E-0A05-5502-41F30D05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¿Qué es Java?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B81EBB-BC91-1926-2843-629FA3AE6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Java es uno de los lenguajes de programación más populares del mundo. Fue creado en 1995 y se usa en millones de dispositivos. ¿Sabías que tu teléfono Android funciona con Java? ¿O que Minecraft fue creado con Java? ¡Incluso muchos sitios web y aplicaciones que usas todos los días están hechos con Java!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79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C160D-5097-F28D-E338-89102FBB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¿Por qué Java es tan especial?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EA2F00-1CA5-D74A-739B-E5392C99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Funciona en cualquier lugar: Puedes escribir código una vez y ejecutarlo en Windows, Mac, Linux, teléfonos... ¡en casi cualquier dispositivo!</a:t>
            </a:r>
          </a:p>
          <a:p>
            <a:r>
              <a:rPr lang="es-MX" dirty="0"/>
              <a:t>Es fácil de aprender: Java tiene una sintaxis clara y lógica, perfecta para principiantes.</a:t>
            </a:r>
          </a:p>
          <a:p>
            <a:r>
              <a:rPr lang="es-MX" dirty="0"/>
              <a:t>Tiene una gran comunidad: Millones de programadores usan Java, así que siempre encontrarás ayuda y recursos."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11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338CB-3680-CC69-C8D7-F72F7B60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Hola Mundo!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3AA2D8-1576-053C-C21D-A2FC8DE4D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MiPrimerPrograma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main(String[] args)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    System.out.println(</a:t>
            </a:r>
            <a:r>
              <a:rPr lang="en-GB" b="0" i="0" dirty="0">
                <a:solidFill>
                  <a:srgbClr val="D69D85"/>
                </a:solidFill>
                <a:effectLst/>
                <a:latin typeface="Consolas" panose="020B0609020204030204" pitchFamily="49" charset="0"/>
              </a:rPr>
              <a:t>"¡Hola Mundo!"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    System.out.println(</a:t>
            </a:r>
            <a:r>
              <a:rPr lang="en-GB" b="0" i="0" dirty="0">
                <a:solidFill>
                  <a:srgbClr val="D69D85"/>
                </a:solidFill>
                <a:effectLst/>
                <a:latin typeface="Consolas" panose="020B0609020204030204" pitchFamily="49" charset="0"/>
              </a:rPr>
              <a:t>"Este es mi primer programa en Java"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i="0" dirty="0">
              <a:solidFill>
                <a:srgbClr val="BBBBBB"/>
              </a:solidFill>
              <a:effectLst/>
              <a:latin typeface="Courier New" panose="020703090202050204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5600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EB5E4-5488-64B5-AE2F-DAC71D3F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D1625E-F333-5780-74BA-5F4567EA0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>
                <a:solidFill>
                  <a:srgbClr val="FF0000"/>
                </a:solidFill>
              </a:rPr>
              <a:t>public</a:t>
            </a:r>
            <a:r>
              <a:rPr lang="es-MX" dirty="0">
                <a:solidFill>
                  <a:srgbClr val="FF0000"/>
                </a:solidFill>
              </a:rPr>
              <a:t> class </a:t>
            </a:r>
            <a:r>
              <a:rPr lang="es-MX" dirty="0" err="1">
                <a:solidFill>
                  <a:srgbClr val="FF0000"/>
                </a:solidFill>
              </a:rPr>
              <a:t>MiPrimerPrograma</a:t>
            </a:r>
            <a:r>
              <a:rPr lang="es-MX" dirty="0"/>
              <a:t>: Esta es la clase principal. En Java, todo el código vive dentro de clases. Por ahora, piensa en una clase como un contenedor.</a:t>
            </a:r>
          </a:p>
          <a:p>
            <a:r>
              <a:rPr lang="es-MX" dirty="0" err="1">
                <a:solidFill>
                  <a:srgbClr val="FF0000"/>
                </a:solidFill>
              </a:rPr>
              <a:t>public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static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void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main</a:t>
            </a:r>
            <a:r>
              <a:rPr lang="es-MX" dirty="0"/>
              <a:t>: Esta es la puerta de entrada de tu programa. Java siempre empieza a ejecutar desde aquí.</a:t>
            </a:r>
          </a:p>
          <a:p>
            <a:r>
              <a:rPr lang="es-MX" dirty="0" err="1">
                <a:solidFill>
                  <a:srgbClr val="FF0000"/>
                </a:solidFill>
              </a:rPr>
              <a:t>System.out.println</a:t>
            </a:r>
            <a:r>
              <a:rPr lang="es-MX" dirty="0">
                <a:solidFill>
                  <a:srgbClr val="FF0000"/>
                </a:solidFill>
              </a:rPr>
              <a:t>()</a:t>
            </a:r>
            <a:r>
              <a:rPr lang="es-MX" dirty="0"/>
              <a:t>: Este es el comando para mostrar texto en la pantalla. Todo lo que pongas entre comillas se mostrará."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0249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91E89-E87A-2C68-8CB4-D7D3D80D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¿Qué son las Variables?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BB80B-4D8E-03B6-883A-7019CCA73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Imagina que estás jugando un videojuego. El juego necesita recordar tu nombre, tu puntuación, tu nivel, cuántas vidas te quedan... Toda esa información se guarda en variables. </a:t>
            </a:r>
          </a:p>
          <a:p>
            <a:pPr marL="0" indent="0">
              <a:buNone/>
            </a:pPr>
            <a:r>
              <a:rPr lang="es-MX" dirty="0"/>
              <a:t>Una variable tiene tres cosas importantes:</a:t>
            </a:r>
          </a:p>
          <a:p>
            <a:pPr lvl="1"/>
            <a:r>
              <a:rPr lang="en-GB" dirty="0"/>
              <a:t>Un </a:t>
            </a:r>
            <a:r>
              <a:rPr lang="en-GB" dirty="0" err="1"/>
              <a:t>nombre</a:t>
            </a:r>
            <a:r>
              <a:rPr lang="en-GB" dirty="0"/>
              <a:t>: Para </a:t>
            </a:r>
            <a:r>
              <a:rPr lang="en-GB" dirty="0" err="1"/>
              <a:t>identificarla</a:t>
            </a:r>
            <a:r>
              <a:rPr lang="en-GB" dirty="0"/>
              <a:t> (</a:t>
            </a:r>
            <a:r>
              <a:rPr lang="en-GB" dirty="0" err="1"/>
              <a:t>como</a:t>
            </a:r>
            <a:r>
              <a:rPr lang="en-GB" dirty="0"/>
              <a:t> '</a:t>
            </a:r>
            <a:r>
              <a:rPr lang="en-GB" dirty="0" err="1"/>
              <a:t>puntaje</a:t>
            </a:r>
            <a:r>
              <a:rPr lang="en-GB" dirty="0"/>
              <a:t>' o '</a:t>
            </a:r>
            <a:r>
              <a:rPr lang="en-GB" dirty="0" err="1"/>
              <a:t>nombreJugador</a:t>
            </a:r>
            <a:r>
              <a:rPr lang="en-GB" dirty="0"/>
              <a:t>’)</a:t>
            </a:r>
          </a:p>
          <a:p>
            <a:pPr lvl="1"/>
            <a:r>
              <a:rPr lang="es-MX" dirty="0"/>
              <a:t>Un tipo: Qué clase de información guarda (números, texto, etc.)</a:t>
            </a:r>
          </a:p>
          <a:p>
            <a:pPr lvl="1"/>
            <a:r>
              <a:rPr lang="es-MX" dirty="0"/>
              <a:t>Un valor: La información que contiene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20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92F18-0BCB-9D47-7C2D-E5208AB5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datos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1BAF60-2E84-C275-92D3-8AB77E82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Veamos los tipos de datos principales en Java:</a:t>
            </a:r>
          </a:p>
          <a:p>
            <a:pPr lvl="1"/>
            <a:r>
              <a:rPr lang="es-MX" dirty="0" err="1"/>
              <a:t>int</a:t>
            </a:r>
            <a:r>
              <a:rPr lang="es-MX" dirty="0"/>
              <a:t>: Para números enteros (sin decimales). Ejemplo: edad, puntos, nivel.</a:t>
            </a:r>
          </a:p>
          <a:p>
            <a:pPr lvl="1"/>
            <a:r>
              <a:rPr lang="es-MX" dirty="0" err="1"/>
              <a:t>double</a:t>
            </a:r>
            <a:r>
              <a:rPr lang="es-MX" dirty="0"/>
              <a:t>: Para números con decimales. Ejemplo: altura, promedio, precio.</a:t>
            </a:r>
          </a:p>
          <a:p>
            <a:pPr lvl="1"/>
            <a:r>
              <a:rPr lang="es-MX" dirty="0" err="1"/>
              <a:t>String</a:t>
            </a:r>
            <a:r>
              <a:rPr lang="es-MX" dirty="0"/>
              <a:t>: Para texto. Siempre va entre comillas dobles. Ejemplo: nombres, mensajes.</a:t>
            </a:r>
          </a:p>
          <a:p>
            <a:pPr lvl="1"/>
            <a:r>
              <a:rPr lang="es-MX" dirty="0" err="1"/>
              <a:t>boolean</a:t>
            </a:r>
            <a:r>
              <a:rPr lang="es-MX" dirty="0"/>
              <a:t>: Solo puede ser true (verdadero) o false (falso). Útil para decisiones.</a:t>
            </a:r>
          </a:p>
          <a:p>
            <a:pPr lvl="1"/>
            <a:r>
              <a:rPr lang="es-MX" dirty="0" err="1"/>
              <a:t>char</a:t>
            </a:r>
            <a:r>
              <a:rPr lang="es-MX" dirty="0"/>
              <a:t>: Para un solo carácter. Va entre comillas simples.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1063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A22C6-2BC5-CA79-43B0-B4DDE5AF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Reglas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16543A-B2F6-A37F-D64F-46946281A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Reglas importantes para nombrar variables:</a:t>
            </a:r>
          </a:p>
          <a:p>
            <a:pPr lvl="1"/>
            <a:r>
              <a:rPr lang="es-MX" dirty="0"/>
              <a:t>Debe empezar con una letra, $ o _</a:t>
            </a:r>
          </a:p>
          <a:p>
            <a:pPr lvl="1"/>
            <a:r>
              <a:rPr lang="es-MX" dirty="0"/>
              <a:t>No puede empezar con un número</a:t>
            </a:r>
          </a:p>
          <a:p>
            <a:pPr lvl="1"/>
            <a:r>
              <a:rPr lang="es-MX" dirty="0"/>
              <a:t>No puede tener espacios ni guiones</a:t>
            </a:r>
          </a:p>
          <a:p>
            <a:pPr lvl="1"/>
            <a:r>
              <a:rPr lang="es-MX" dirty="0"/>
              <a:t>No uses palabras reservadas de Java (como '</a:t>
            </a:r>
            <a:r>
              <a:rPr lang="es-MX" dirty="0" err="1"/>
              <a:t>int</a:t>
            </a:r>
            <a:r>
              <a:rPr lang="es-MX" dirty="0"/>
              <a:t>', 'class', '</a:t>
            </a:r>
            <a:r>
              <a:rPr lang="es-MX" dirty="0" err="1"/>
              <a:t>public</a:t>
            </a:r>
            <a:r>
              <a:rPr lang="es-MX" dirty="0"/>
              <a:t>')</a:t>
            </a:r>
          </a:p>
          <a:p>
            <a:pPr lvl="1"/>
            <a:r>
              <a:rPr lang="es-MX" dirty="0"/>
              <a:t>Java distingue mayúsculas de minúsculas: 'edad' es diferente de 'Edad'</a:t>
            </a:r>
          </a:p>
          <a:p>
            <a:pPr lvl="1"/>
            <a:r>
              <a:rPr lang="es-MX" dirty="0"/>
              <a:t>En Java usamos '</a:t>
            </a:r>
            <a:r>
              <a:rPr lang="es-MX" dirty="0" err="1"/>
              <a:t>camelCase</a:t>
            </a:r>
            <a:r>
              <a:rPr lang="es-MX" dirty="0"/>
              <a:t>': la primera palabra en minúscula, y cada palabra siguiente empieza con mayúscula. Ejemplo: </a:t>
            </a:r>
            <a:r>
              <a:rPr lang="es-MX" dirty="0" err="1"/>
              <a:t>nombreDelEstudiante</a:t>
            </a:r>
            <a:r>
              <a:rPr lang="es-MX" dirty="0"/>
              <a:t>, </a:t>
            </a:r>
            <a:r>
              <a:rPr lang="es-MX" dirty="0" err="1"/>
              <a:t>puntajeMaximo</a:t>
            </a:r>
            <a:r>
              <a:rPr lang="es-MX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6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19113-568E-9D9D-8B2D-30DAC3F0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Condicionales</a:t>
            </a:r>
            <a:r>
              <a:rPr lang="en-GB" dirty="0"/>
              <a:t>: if-else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4B6913-28B9-51C0-9FA8-6E9CCC112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Las estructuras if-</a:t>
            </a:r>
            <a:r>
              <a:rPr lang="es-MX" dirty="0" err="1"/>
              <a:t>else</a:t>
            </a:r>
            <a:r>
              <a:rPr lang="es-MX" dirty="0"/>
              <a:t> son como preguntas que hace tu programa:</a:t>
            </a:r>
          </a:p>
          <a:p>
            <a:pPr lvl="1"/>
            <a:r>
              <a:rPr lang="es-MX" dirty="0"/>
              <a:t>if (condición): Si esto es verdad, haz esto</a:t>
            </a:r>
          </a:p>
          <a:p>
            <a:pPr lvl="1"/>
            <a:r>
              <a:rPr lang="es-MX" dirty="0" err="1"/>
              <a:t>else</a:t>
            </a:r>
            <a:r>
              <a:rPr lang="es-MX" dirty="0"/>
              <a:t>: Si no, haz esto otro</a:t>
            </a:r>
          </a:p>
          <a:p>
            <a:pPr lvl="1"/>
            <a:r>
              <a:rPr lang="es-MX" dirty="0" err="1"/>
              <a:t>else</a:t>
            </a:r>
            <a:r>
              <a:rPr lang="es-MX" dirty="0"/>
              <a:t> if: Si la primera condición no se cumple, prueba esta otra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270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251E8-CF75-7ADF-2B3B-2CB72EC9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Operadores de comparación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F7326A-C8E6-976D-8DBE-C624683D5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 dirty="0"/>
              <a:t>== : </a:t>
            </a:r>
            <a:r>
              <a:rPr lang="en-GB" dirty="0" err="1"/>
              <a:t>igual</a:t>
            </a:r>
            <a:r>
              <a:rPr lang="en-GB" dirty="0"/>
              <a:t> a</a:t>
            </a:r>
          </a:p>
          <a:p>
            <a:pPr lvl="1"/>
            <a:r>
              <a:rPr lang="en-GB" dirty="0"/>
              <a:t>!= : </a:t>
            </a:r>
            <a:r>
              <a:rPr lang="en-GB" dirty="0" err="1"/>
              <a:t>diferente</a:t>
            </a:r>
            <a:r>
              <a:rPr lang="en-GB" dirty="0"/>
              <a:t> de</a:t>
            </a:r>
          </a:p>
          <a:p>
            <a:pPr lvl="1"/>
            <a:r>
              <a:rPr lang="en-GB" dirty="0"/>
              <a:t>&gt; : mayor que</a:t>
            </a:r>
          </a:p>
          <a:p>
            <a:pPr lvl="1"/>
            <a:r>
              <a:rPr lang="en-GB" dirty="0"/>
              <a:t>&lt; : </a:t>
            </a:r>
            <a:r>
              <a:rPr lang="en-GB" dirty="0" err="1"/>
              <a:t>menor</a:t>
            </a:r>
            <a:r>
              <a:rPr lang="en-GB" dirty="0"/>
              <a:t> que</a:t>
            </a:r>
          </a:p>
          <a:p>
            <a:pPr lvl="1"/>
            <a:r>
              <a:rPr lang="en-GB" dirty="0"/>
              <a:t>&gt;= : mayor o </a:t>
            </a:r>
            <a:r>
              <a:rPr lang="en-GB" dirty="0" err="1"/>
              <a:t>igual</a:t>
            </a:r>
            <a:r>
              <a:rPr lang="en-GB" dirty="0"/>
              <a:t> que</a:t>
            </a:r>
          </a:p>
          <a:p>
            <a:pPr lvl="1"/>
            <a:r>
              <a:rPr lang="en-GB" dirty="0"/>
              <a:t>&lt;= : </a:t>
            </a:r>
            <a:r>
              <a:rPr lang="en-GB" dirty="0" err="1"/>
              <a:t>menor</a:t>
            </a:r>
            <a:r>
              <a:rPr lang="en-GB" dirty="0"/>
              <a:t> o </a:t>
            </a:r>
            <a:r>
              <a:rPr lang="en-GB" dirty="0" err="1"/>
              <a:t>igual</a:t>
            </a:r>
            <a:r>
              <a:rPr lang="en-GB" dirty="0"/>
              <a:t> que</a:t>
            </a:r>
          </a:p>
          <a:p>
            <a:pPr marL="0" indent="0">
              <a:buNone/>
            </a:pPr>
            <a:r>
              <a:rPr lang="es-MX" dirty="0"/>
              <a:t>También podemos combinar condiciones:</a:t>
            </a:r>
          </a:p>
          <a:p>
            <a:pPr lvl="1"/>
            <a:r>
              <a:rPr lang="es-MX" dirty="0"/>
              <a:t>&amp;&amp; : Y (ambas deben ser verdad)</a:t>
            </a:r>
          </a:p>
          <a:p>
            <a:pPr lvl="1"/>
            <a:r>
              <a:rPr lang="es-MX" dirty="0"/>
              <a:t>|| : O (al menos una debe ser verdad)</a:t>
            </a:r>
          </a:p>
          <a:p>
            <a:pPr lvl="1"/>
            <a:r>
              <a:rPr lang="es-MX" dirty="0"/>
              <a:t>! : NO (invierte el resultado)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1609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2EFDF-943A-A2A8-0F52-0F96F674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Bucle</a:t>
            </a:r>
            <a:r>
              <a:rPr lang="en-GB" dirty="0"/>
              <a:t> for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559D6-B646-8679-B137-918667EA9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bucle for es perfecto cuando sabes cuántas veces quieres repetir algo. Su estructura es:</a:t>
            </a:r>
          </a:p>
          <a:p>
            <a:pPr algn="l">
              <a:buNone/>
            </a:pP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for (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inicio</a:t>
            </a: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condición</a:t>
            </a: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incremento</a:t>
            </a: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>
              <a:buNone/>
            </a:pP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código</a:t>
            </a: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repetir</a:t>
            </a:r>
            <a:endParaRPr lang="en-GB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691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DC9CB-FB9E-4FCD-39BE-37BC9D7A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Bucle</a:t>
            </a:r>
            <a:r>
              <a:rPr lang="en-GB" dirty="0"/>
              <a:t> while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21811-E454-EAF2-977E-2BBB32014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bucle </a:t>
            </a:r>
            <a:r>
              <a:rPr lang="es-MX" dirty="0" err="1"/>
              <a:t>while</a:t>
            </a:r>
            <a:r>
              <a:rPr lang="es-MX" dirty="0"/>
              <a:t> se usa cuando no sabes exactamente cuántas veces necesitas repetir, pero tienes una condición:</a:t>
            </a:r>
          </a:p>
          <a:p>
            <a:pPr algn="l">
              <a:buNone/>
            </a:pP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while (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condición</a:t>
            </a: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>
              <a:buNone/>
            </a:pP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código</a:t>
            </a: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GB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repetir</a:t>
            </a:r>
            <a:endParaRPr lang="en-GB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GB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>
              <a:buNone/>
            </a:pPr>
            <a:endParaRPr lang="en-GB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MX" dirty="0"/>
              <a:t>El bucle continúa mientras la condición sea verdadera. ¡Cuidado! Si la condición siempre es verdadera, el bucle nunca terminará (bucle infinito).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273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413EE-6DC7-3798-7DA3-16E518E7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son los métodos?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D38336-C761-7B80-3A0E-DA948B948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Los métodos son como </a:t>
            </a:r>
            <a:r>
              <a:rPr lang="es-MX" dirty="0" err="1"/>
              <a:t>mini-programas</a:t>
            </a:r>
            <a:r>
              <a:rPr lang="es-MX" dirty="0"/>
              <a:t> dentro de tu programa. Son bloques de código reutilizables que realizan una tarea específica.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8084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187D-AA49-30FC-5267-45BF6E54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¿Por </a:t>
            </a:r>
            <a:r>
              <a:rPr lang="en-GB" dirty="0" err="1"/>
              <a:t>qué</a:t>
            </a:r>
            <a:r>
              <a:rPr lang="en-GB" dirty="0"/>
              <a:t> usar </a:t>
            </a:r>
            <a:r>
              <a:rPr lang="en-GB" dirty="0" err="1"/>
              <a:t>métodos</a:t>
            </a:r>
            <a:r>
              <a:rPr lang="en-GB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89754D-6E8C-96B2-28CA-2D0C2759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MX" dirty="0"/>
              <a:t>Reutilización: Escribe el código una vez, úsalo muchas veces</a:t>
            </a:r>
          </a:p>
          <a:p>
            <a:pPr lvl="1"/>
            <a:r>
              <a:rPr lang="es-MX" dirty="0"/>
              <a:t>Organización: Tu código es más fácil de leer y entender</a:t>
            </a:r>
          </a:p>
          <a:p>
            <a:pPr lvl="1"/>
            <a:r>
              <a:rPr lang="es-MX" dirty="0"/>
              <a:t>Mantenimiento: Si necesitas cambiar algo, lo haces en un solo lugar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4733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E2635-7A61-97C6-5D10-D43B395A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Partes de un </a:t>
            </a:r>
            <a:r>
              <a:rPr lang="en-GB" dirty="0" err="1"/>
              <a:t>método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F573EE-F7B2-A69B-D348-76DBFC979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static</a:t>
            </a:r>
            <a:r>
              <a:rPr lang="es-MX" dirty="0"/>
              <a:t>: Por ahora, siempre los usaremos así</a:t>
            </a:r>
          </a:p>
          <a:p>
            <a:pPr lvl="1"/>
            <a:r>
              <a:rPr lang="es-MX" dirty="0" err="1"/>
              <a:t>void</a:t>
            </a:r>
            <a:r>
              <a:rPr lang="es-MX" dirty="0"/>
              <a:t> o tipo de retorno: </a:t>
            </a:r>
            <a:r>
              <a:rPr lang="es-MX" dirty="0" err="1"/>
              <a:t>void</a:t>
            </a:r>
            <a:r>
              <a:rPr lang="es-MX" dirty="0"/>
              <a:t> si no devuelve nada, o el tipo de dato que devuelve</a:t>
            </a:r>
          </a:p>
          <a:p>
            <a:pPr lvl="1"/>
            <a:r>
              <a:rPr lang="es-MX" dirty="0"/>
              <a:t>Nombre del método: Usa </a:t>
            </a:r>
            <a:r>
              <a:rPr lang="es-MX" dirty="0" err="1"/>
              <a:t>camelCase</a:t>
            </a:r>
            <a:endParaRPr lang="es-MX" dirty="0"/>
          </a:p>
          <a:p>
            <a:pPr lvl="1"/>
            <a:r>
              <a:rPr lang="es-MX" dirty="0"/>
              <a:t>Paréntesis con parámetros: La información que el método necesita</a:t>
            </a:r>
          </a:p>
          <a:p>
            <a:pPr lvl="1"/>
            <a:r>
              <a:rPr lang="es-MX" dirty="0"/>
              <a:t>Llaves con el código: Lo que el método hace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572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90E1C-F522-ED8A-A76B-53921CA2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Entrada del </a:t>
            </a:r>
            <a:r>
              <a:rPr lang="en-GB" dirty="0" err="1"/>
              <a:t>Usuario</a:t>
            </a:r>
            <a:r>
              <a:rPr lang="en-GB" dirty="0"/>
              <a:t> con Scanner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E56808-AD73-ECC0-9093-7BE387D9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Para que nuestros programas sean interactivos, necesitamos recibir información del usuario. Para eso usamos la clase Scanner</a:t>
            </a:r>
          </a:p>
          <a:p>
            <a:pPr lvl="1"/>
            <a:r>
              <a:rPr lang="en-GB" dirty="0" err="1"/>
              <a:t>Importamos</a:t>
            </a:r>
            <a:r>
              <a:rPr lang="en-GB" dirty="0"/>
              <a:t> Scanner: import </a:t>
            </a:r>
            <a:r>
              <a:rPr lang="en-GB" dirty="0" err="1"/>
              <a:t>java.util.Scanner</a:t>
            </a:r>
            <a:r>
              <a:rPr lang="en-GB" dirty="0"/>
              <a:t>;</a:t>
            </a:r>
          </a:p>
          <a:p>
            <a:pPr lvl="1"/>
            <a:r>
              <a:rPr lang="en-GB" dirty="0" err="1"/>
              <a:t>Creamos</a:t>
            </a:r>
            <a:r>
              <a:rPr lang="en-GB" dirty="0"/>
              <a:t> un </a:t>
            </a:r>
            <a:r>
              <a:rPr lang="en-GB" dirty="0" err="1"/>
              <a:t>objeto</a:t>
            </a:r>
            <a:r>
              <a:rPr lang="en-GB" dirty="0"/>
              <a:t> Scanner: Scanner </a:t>
            </a:r>
            <a:r>
              <a:rPr lang="en-GB" dirty="0" err="1"/>
              <a:t>scanner</a:t>
            </a:r>
            <a:r>
              <a:rPr lang="en-GB" dirty="0"/>
              <a:t> = new Scanner(System.in);</a:t>
            </a:r>
          </a:p>
          <a:p>
            <a:pPr lvl="1"/>
            <a:r>
              <a:rPr lang="en-GB" dirty="0" err="1"/>
              <a:t>Usamos</a:t>
            </a:r>
            <a:r>
              <a:rPr lang="en-GB" dirty="0"/>
              <a:t> </a:t>
            </a:r>
            <a:r>
              <a:rPr lang="en-GB" dirty="0" err="1"/>
              <a:t>métodos</a:t>
            </a:r>
            <a:r>
              <a:rPr lang="en-GB" dirty="0"/>
              <a:t> para leer </a:t>
            </a:r>
            <a:r>
              <a:rPr lang="en-GB" dirty="0" err="1"/>
              <a:t>datos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nextLine</a:t>
            </a:r>
            <a:r>
              <a:rPr lang="en-GB" dirty="0"/>
              <a:t>(): Lee </a:t>
            </a:r>
            <a:r>
              <a:rPr lang="en-GB" dirty="0" err="1"/>
              <a:t>texto</a:t>
            </a:r>
            <a:endParaRPr lang="en-GB" dirty="0"/>
          </a:p>
          <a:p>
            <a:pPr lvl="1"/>
            <a:r>
              <a:rPr lang="en-GB" dirty="0" err="1"/>
              <a:t>nextInt</a:t>
            </a:r>
            <a:r>
              <a:rPr lang="en-GB" dirty="0"/>
              <a:t>(): Lee </a:t>
            </a:r>
            <a:r>
              <a:rPr lang="en-GB" dirty="0" err="1"/>
              <a:t>números</a:t>
            </a:r>
            <a:r>
              <a:rPr lang="en-GB" dirty="0"/>
              <a:t> </a:t>
            </a:r>
            <a:r>
              <a:rPr lang="en-GB" dirty="0" err="1"/>
              <a:t>enteros</a:t>
            </a:r>
            <a:endParaRPr lang="en-GB" dirty="0"/>
          </a:p>
          <a:p>
            <a:pPr lvl="1"/>
            <a:r>
              <a:rPr lang="en-GB" dirty="0" err="1"/>
              <a:t>nextDouble</a:t>
            </a:r>
            <a:r>
              <a:rPr lang="en-GB" dirty="0"/>
              <a:t>(): Lee </a:t>
            </a:r>
            <a:r>
              <a:rPr lang="en-GB" dirty="0" err="1"/>
              <a:t>números</a:t>
            </a:r>
            <a:r>
              <a:rPr lang="en-GB" dirty="0"/>
              <a:t> </a:t>
            </a:r>
            <a:r>
              <a:rPr lang="en-GB" dirty="0" err="1"/>
              <a:t>decimales</a:t>
            </a:r>
            <a:endParaRPr lang="en-GB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Siempre usa </a:t>
            </a:r>
            <a:r>
              <a:rPr lang="es-MX" dirty="0" err="1"/>
              <a:t>System.out.print</a:t>
            </a:r>
            <a:r>
              <a:rPr lang="es-MX" dirty="0"/>
              <a:t>() antes de leer, para que el usuario sepa qué debe escribir.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928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A43AA-F7BA-74C3-0149-5DF45AB7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¿Qué es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clase</a:t>
            </a:r>
            <a:r>
              <a:rPr lang="en-GB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6130D5-3F33-4852-5C44-0A32621FC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Una clase es como un molde o plano. Define cómo será algo. Por ejemplo, la clase Mascota define qué características y acciones tendrá cualquier mascota.</a:t>
            </a:r>
          </a:p>
          <a:p>
            <a:pPr marL="0" indent="0">
              <a:buNone/>
            </a:pPr>
            <a:r>
              <a:rPr lang="es-MX" dirty="0"/>
              <a:t>La POO nos ayuda a organizar código complejo modelando cosas del mundo real.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31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9BE69-3D6B-32AD-8AFD-578CCBD76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¿Qué es un </a:t>
            </a:r>
            <a:r>
              <a:rPr lang="en-GB" dirty="0" err="1"/>
              <a:t>objeto</a:t>
            </a:r>
            <a:r>
              <a:rPr lang="en-GB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0AA0B-AA2E-E08E-0458-848D6F2B4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Un objeto es una instancia de una clase. Es algo real creado a partir del molde. </a:t>
            </a:r>
            <a:r>
              <a:rPr lang="es-MX" dirty="0" err="1"/>
              <a:t>miPerro</a:t>
            </a:r>
            <a:r>
              <a:rPr lang="es-MX" dirty="0"/>
              <a:t> y </a:t>
            </a:r>
            <a:r>
              <a:rPr lang="es-MX" dirty="0" err="1"/>
              <a:t>miGato</a:t>
            </a:r>
            <a:r>
              <a:rPr lang="es-MX" dirty="0"/>
              <a:t> son dos objetos diferentes creados a partir de la clase Mascota.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9340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F9319-3839-7384-B823-72E0BE8A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Componentes</a:t>
            </a:r>
            <a:r>
              <a:rPr lang="en-GB" dirty="0"/>
              <a:t> de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clase</a:t>
            </a:r>
            <a:r>
              <a:rPr lang="en-GB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CCCCB4-1751-E97D-5772-F232BFBD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MX" dirty="0"/>
              <a:t>Atributos: Variables que guardan las características (nombre, tipo, edad, </a:t>
            </a:r>
            <a:r>
              <a:rPr lang="es-MX" dirty="0" err="1"/>
              <a:t>nivelFelicidad</a:t>
            </a:r>
            <a:r>
              <a:rPr lang="es-MX" dirty="0"/>
              <a:t>)</a:t>
            </a:r>
          </a:p>
          <a:p>
            <a:pPr lvl="1"/>
            <a:r>
              <a:rPr lang="es-MX" dirty="0"/>
              <a:t>Constructor: Método especial que crea el objeto y establece valores iniciales</a:t>
            </a:r>
          </a:p>
          <a:p>
            <a:pPr lvl="1"/>
            <a:r>
              <a:rPr lang="es-MX" dirty="0"/>
              <a:t>Métodos: Acciones que el objeto puede realizar (alimentar, jugar, </a:t>
            </a:r>
            <a:r>
              <a:rPr lang="es-MX" dirty="0" err="1"/>
              <a:t>mostrarEstado</a:t>
            </a:r>
            <a:r>
              <a:rPr lang="es-MX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433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B4DED0-9FE7-96C7-364F-F4881DC1D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7620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71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94FCC-2930-5BA9-0C09-FD093EB5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Principios de POO</a:t>
            </a:r>
            <a:endParaRPr lang="en-GB" dirty="0"/>
          </a:p>
        </p:txBody>
      </p:sp>
      <p:pic>
        <p:nvPicPr>
          <p:cNvPr id="1026" name="Picture 2" descr="Investigación de programación orientada en objetos para el diseño de  programas. | by Steven_fa | Medium">
            <a:extLst>
              <a:ext uri="{FF2B5EF4-FFF2-40B4-BE49-F238E27FC236}">
                <a16:creationId xmlns:a16="http://schemas.microsoft.com/office/drawing/2014/main" id="{C34161AA-2A7A-3185-5D49-B2515763AE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42" y="1484967"/>
            <a:ext cx="5160916" cy="516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402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DB6B5-C31C-D05C-CA28-8F66C071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Getters</a:t>
            </a:r>
            <a:r>
              <a:rPr lang="es-PE" dirty="0"/>
              <a:t> y </a:t>
            </a:r>
            <a:r>
              <a:rPr lang="es-PE" dirty="0" err="1"/>
              <a:t>Setters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36EC33-DF16-5987-DB0A-A07226CC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PE" dirty="0" err="1"/>
              <a:t>Getters</a:t>
            </a:r>
            <a:r>
              <a:rPr lang="es-PE" dirty="0"/>
              <a:t>: Métodos para obtener datos</a:t>
            </a:r>
          </a:p>
          <a:p>
            <a:pPr algn="l">
              <a:buNone/>
            </a:pP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GB" b="0" i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getNombre</a:t>
            </a:r>
            <a:r>
              <a:rPr lang="en-GB" b="0" i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endParaRPr lang="es-PE" dirty="0"/>
          </a:p>
          <a:p>
            <a:r>
              <a:rPr lang="es-PE" dirty="0" err="1"/>
              <a:t>Setters</a:t>
            </a:r>
            <a:r>
              <a:rPr lang="es-PE" dirty="0"/>
              <a:t>: Métodos para modificar el valor de un atributo.</a:t>
            </a:r>
          </a:p>
          <a:p>
            <a:pPr algn="l">
              <a:buNone/>
            </a:pP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setPromedio</a:t>
            </a:r>
            <a:r>
              <a:rPr lang="en-GB" b="0" i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GB" b="0" i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i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nuevoPromedio</a:t>
            </a:r>
            <a:r>
              <a:rPr lang="en-GB" b="0" i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GB" b="0" i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b="0" i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nuevoPromedio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GB" b="0" i="0" dirty="0">
                <a:solidFill>
                  <a:srgbClr val="B8D7A3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GB" b="0" i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nuevoPromedio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GB" b="0" i="0" dirty="0">
                <a:solidFill>
                  <a:srgbClr val="B8D7A3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GB" b="0" i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promedio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i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nuevoPromedio</a:t>
            </a: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>
              <a:buNone/>
            </a:pPr>
            <a:r>
              <a:rPr lang="en-GB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i="0" dirty="0">
              <a:solidFill>
                <a:srgbClr val="BBBBBB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4616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36E81-AF82-5F96-B8BE-7D96F69C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Arrays</a:t>
            </a:r>
            <a:endParaRPr lang="en-GB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468B28-2D50-4D3B-6E2E-820BADDFC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Un array es como una lista de elementos del mismo tipo</a:t>
            </a:r>
          </a:p>
          <a:p>
            <a:pPr lvl="1"/>
            <a:r>
              <a:rPr lang="es-PE" dirty="0"/>
              <a:t>Ejemplos: </a:t>
            </a:r>
          </a:p>
          <a:p>
            <a:pPr lvl="2"/>
            <a:r>
              <a:rPr lang="es-PE" dirty="0" err="1"/>
              <a:t>double</a:t>
            </a:r>
            <a:r>
              <a:rPr lang="es-PE" dirty="0"/>
              <a:t>[] calificaciones = new </a:t>
            </a:r>
            <a:r>
              <a:rPr lang="es-PE" dirty="0" err="1"/>
              <a:t>double</a:t>
            </a:r>
            <a:r>
              <a:rPr lang="es-PE" dirty="0"/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3194087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1264</Words>
  <Application>Microsoft Office PowerPoint</Application>
  <PresentationFormat>Panorámica</PresentationFormat>
  <Paragraphs>116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Courier New</vt:lpstr>
      <vt:lpstr>Tema de Office</vt:lpstr>
      <vt:lpstr>Fundamentos de la programación con Java</vt:lpstr>
      <vt:lpstr>¿Qué es la programación?</vt:lpstr>
      <vt:lpstr>Presentación de PowerPoint</vt:lpstr>
      <vt:lpstr>¿Qué es Java?</vt:lpstr>
      <vt:lpstr>¿Por qué Java es tan especial?</vt:lpstr>
      <vt:lpstr>Hola Mundo!</vt:lpstr>
      <vt:lpstr>Presentación de PowerPoint</vt:lpstr>
      <vt:lpstr>¿Qué son las Variables?</vt:lpstr>
      <vt:lpstr>Tipos de datos</vt:lpstr>
      <vt:lpstr>Reglas</vt:lpstr>
      <vt:lpstr>Condicionales: if-else</vt:lpstr>
      <vt:lpstr>Operadores de comparación</vt:lpstr>
      <vt:lpstr>Bucle for</vt:lpstr>
      <vt:lpstr>Bucle while</vt:lpstr>
      <vt:lpstr>¿Qué son los métodos?</vt:lpstr>
      <vt:lpstr>¿Por qué usar métodos?</vt:lpstr>
      <vt:lpstr>Partes de un método</vt:lpstr>
      <vt:lpstr>Entrada del Usuario con Scanner</vt:lpstr>
      <vt:lpstr>¿Qué es una clase?</vt:lpstr>
      <vt:lpstr>¿Qué es un objeto?</vt:lpstr>
      <vt:lpstr>Componentes de una clase:</vt:lpstr>
      <vt:lpstr>Presentación de PowerPoint</vt:lpstr>
      <vt:lpstr>Principios de POO</vt:lpstr>
      <vt:lpstr>Getters y Setters</vt:lpstr>
      <vt:lpstr>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Manuel</dc:creator>
  <cp:lastModifiedBy>Victor Manuel</cp:lastModifiedBy>
  <cp:revision>1</cp:revision>
  <dcterms:created xsi:type="dcterms:W3CDTF">2025-11-17T04:59:20Z</dcterms:created>
  <dcterms:modified xsi:type="dcterms:W3CDTF">2025-11-17T09:47:34Z</dcterms:modified>
</cp:coreProperties>
</file>